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.png"  /><Relationship Id="rId11" Type="http://schemas.openxmlformats.org/officeDocument/2006/relationships/image" Target="../media/image11.png"  /><Relationship Id="rId12" Type="http://schemas.openxmlformats.org/officeDocument/2006/relationships/image" Target="../media/image12.png"  /><Relationship Id="rId13" Type="http://schemas.openxmlformats.org/officeDocument/2006/relationships/image" Target="../media/image13.png"  /><Relationship Id="rId14" Type="http://schemas.openxmlformats.org/officeDocument/2006/relationships/image" Target="../media/image14.png"  /><Relationship Id="rId15" Type="http://schemas.openxmlformats.org/officeDocument/2006/relationships/image" Target="../media/image8.png"  /><Relationship Id="rId16" Type="http://schemas.openxmlformats.org/officeDocument/2006/relationships/image" Target="../media/image15.png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8.png"  /><Relationship Id="rId6" Type="http://schemas.openxmlformats.org/officeDocument/2006/relationships/image" Target="../media/image8.png"  /><Relationship Id="rId7" Type="http://schemas.openxmlformats.org/officeDocument/2006/relationships/image" Target="../media/image8.png"  /><Relationship Id="rId8" Type="http://schemas.openxmlformats.org/officeDocument/2006/relationships/image" Target="../media/image8.png"  /><Relationship Id="rId9" Type="http://schemas.openxmlformats.org/officeDocument/2006/relationships/image" Target="../media/image9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Relationship Id="rId6" Type="http://schemas.openxmlformats.org/officeDocument/2006/relationships/image" Target="../media/image20.png"  /><Relationship Id="rId7" Type="http://schemas.openxmlformats.org/officeDocument/2006/relationships/image" Target="../media/image2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4.png"  /><Relationship Id="rId6" Type="http://schemas.openxmlformats.org/officeDocument/2006/relationships/image" Target="../media/image25.png"  /><Relationship Id="rId7" Type="http://schemas.openxmlformats.org/officeDocument/2006/relationships/image" Target="../media/image26.png"  /><Relationship Id="rId8" Type="http://schemas.openxmlformats.org/officeDocument/2006/relationships/image" Target="../media/image27.png"  /><Relationship Id="rId9" Type="http://schemas.openxmlformats.org/officeDocument/2006/relationships/image" Target="../media/image2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9.png"  /><Relationship Id="rId6" Type="http://schemas.openxmlformats.org/officeDocument/2006/relationships/image" Target="../media/image25.png"  /><Relationship Id="rId7" Type="http://schemas.openxmlformats.org/officeDocument/2006/relationships/image" Target="../media/image26.png"  /><Relationship Id="rId8" Type="http://schemas.openxmlformats.org/officeDocument/2006/relationships/image" Target="../media/image27.png"  /><Relationship Id="rId9" Type="http://schemas.openxmlformats.org/officeDocument/2006/relationships/image" Target="../media/image2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5.png"  /><Relationship Id="rId6" Type="http://schemas.openxmlformats.org/officeDocument/2006/relationships/image" Target="../media/image26.png"  /><Relationship Id="rId7" Type="http://schemas.openxmlformats.org/officeDocument/2006/relationships/image" Target="../media/image27.png"  /><Relationship Id="rId8" Type="http://schemas.openxmlformats.org/officeDocument/2006/relationships/image" Target="../media/image30.png"  /><Relationship Id="rId9" Type="http://schemas.openxmlformats.org/officeDocument/2006/relationships/image" Target="../media/image3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Relationship Id="rId6" Type="http://schemas.openxmlformats.org/officeDocument/2006/relationships/image" Target="../media/image36.png"  /><Relationship Id="rId7" Type="http://schemas.openxmlformats.org/officeDocument/2006/relationships/image" Target="../media/image37.png"  /><Relationship Id="rId8" Type="http://schemas.openxmlformats.org/officeDocument/2006/relationships/image" Target="../media/image38.png"  /><Relationship Id="rId9" Type="http://schemas.openxmlformats.org/officeDocument/2006/relationships/image" Target="../media/image3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40.png"  /><Relationship Id="rId6" Type="http://schemas.openxmlformats.org/officeDocument/2006/relationships/image" Target="../media/image25.png"  /><Relationship Id="rId7" Type="http://schemas.openxmlformats.org/officeDocument/2006/relationships/image" Target="../media/image26.png"  /><Relationship Id="rId8" Type="http://schemas.openxmlformats.org/officeDocument/2006/relationships/image" Target="../media/image27.png"  /><Relationship Id="rId9" Type="http://schemas.openxmlformats.org/officeDocument/2006/relationships/image" Target="../media/image4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42.png"  /><Relationship Id="rId6" Type="http://schemas.openxmlformats.org/officeDocument/2006/relationships/image" Target="../media/image25.png"  /><Relationship Id="rId7" Type="http://schemas.openxmlformats.org/officeDocument/2006/relationships/image" Target="../media/image26.png"  /><Relationship Id="rId8" Type="http://schemas.openxmlformats.org/officeDocument/2006/relationships/image" Target="../media/image27.png"  /><Relationship Id="rId9" Type="http://schemas.openxmlformats.org/officeDocument/2006/relationships/image" Target="../media/image4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5.png"  /><Relationship Id="rId6" Type="http://schemas.openxmlformats.org/officeDocument/2006/relationships/image" Target="../media/image26.png"  /><Relationship Id="rId7" Type="http://schemas.openxmlformats.org/officeDocument/2006/relationships/image" Target="../media/image27.png"  /><Relationship Id="rId8" Type="http://schemas.openxmlformats.org/officeDocument/2006/relationships/image" Target="../media/image43.png"  /><Relationship Id="rId9" Type="http://schemas.openxmlformats.org/officeDocument/2006/relationships/image" Target="../media/image4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Relationship Id="rId6" Type="http://schemas.openxmlformats.org/officeDocument/2006/relationships/image" Target="../media/image20.png"  /><Relationship Id="rId7" Type="http://schemas.openxmlformats.org/officeDocument/2006/relationships/image" Target="../media/image4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7.png"  /><Relationship Id="rId2" Type="http://schemas.openxmlformats.org/officeDocument/2006/relationships/image" Target="../media/image16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5.png"  /><Relationship Id="rId6" Type="http://schemas.openxmlformats.org/officeDocument/2006/relationships/image" Target="../media/image26.png"  /><Relationship Id="rId7" Type="http://schemas.openxmlformats.org/officeDocument/2006/relationships/image" Target="../media/image27.png"  /><Relationship Id="rId8" Type="http://schemas.openxmlformats.org/officeDocument/2006/relationships/image" Target="../media/image45.png"  /><Relationship Id="rId9" Type="http://schemas.openxmlformats.org/officeDocument/2006/relationships/image" Target="../media/image4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5.png"  /><Relationship Id="rId6" Type="http://schemas.openxmlformats.org/officeDocument/2006/relationships/image" Target="../media/image26.png"  /><Relationship Id="rId7" Type="http://schemas.openxmlformats.org/officeDocument/2006/relationships/image" Target="../media/image27.png"  /><Relationship Id="rId8" Type="http://schemas.openxmlformats.org/officeDocument/2006/relationships/image" Target="../media/image48.png"  /><Relationship Id="rId9" Type="http://schemas.openxmlformats.org/officeDocument/2006/relationships/image" Target="../media/image4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9.png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2.png"  /><Relationship Id="rId3" Type="http://schemas.openxmlformats.org/officeDocument/2006/relationships/image" Target="../media/image53.png"  /><Relationship Id="rId4" Type="http://schemas.openxmlformats.org/officeDocument/2006/relationships/image" Target="../media/image54.png"  /><Relationship Id="rId5" Type="http://schemas.openxmlformats.org/officeDocument/2006/relationships/image" Target="../media/image55.png"  /><Relationship Id="rId6" Type="http://schemas.openxmlformats.org/officeDocument/2006/relationships/image" Target="../media/image5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5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0" y="7531100"/>
            <a:ext cx="18542000" cy="2997200"/>
          </a:xfrm>
          <a:prstGeom prst="rect">
            <a:avLst/>
          </a:prstGeom>
          <a:effectLst>
            <a:outerShdw dist="230245" dir="5400000">
              <a:srgbClr val="d8d8d8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43000" y="7924800"/>
            <a:ext cx="16002000" cy="1295400"/>
          </a:xfrm>
          <a:prstGeom prst="rect">
            <a:avLst/>
          </a:prstGeom>
          <a:effectLst>
            <a:outerShdw dist="119617" dir="5400000">
              <a:srgbClr val="d8d8d8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43000" y="1257300"/>
            <a:ext cx="2717800" cy="622300"/>
          </a:xfrm>
          <a:prstGeom prst="rect">
            <a:avLst/>
          </a:prstGeom>
          <a:effectLst>
            <a:outerShdw dist="71225" dir="5400000">
              <a:srgbClr val="d8d8d8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371600" y="1409700"/>
            <a:ext cx="2209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 spc="-100">
                <a:solidFill>
                  <a:srgbClr val="595959"/>
                </a:solidFill>
                <a:latin typeface="Noto Sans KR Black"/>
                <a:ea typeface="Noto Sans KR Black"/>
              </a:rPr>
              <a:t>2025</a:t>
            </a:r>
            <a:r>
              <a:rPr lang="ko-KR" sz="2000" b="0" i="0" u="none" strike="noStrike" spc="-100">
                <a:solidFill>
                  <a:srgbClr val="595959"/>
                </a:solidFill>
                <a:latin typeface="Noto Sans KR Black"/>
                <a:ea typeface="Noto Sans KR Black"/>
              </a:rPr>
              <a:t>학년도</a:t>
            </a:r>
            <a:r>
              <a:rPr lang="en-US" sz="2000" b="0" i="0" u="none" strike="noStrike" spc="-100">
                <a:solidFill>
                  <a:srgbClr val="595959"/>
                </a:solidFill>
                <a:latin typeface="Noto Sans KR Black"/>
                <a:ea typeface="Noto Sans KR Black"/>
              </a:rPr>
              <a:t> 1</a:t>
            </a:r>
            <a:r>
              <a:rPr lang="ko-KR" sz="2000" b="0" i="0" u="none" strike="noStrike" spc="-100">
                <a:solidFill>
                  <a:srgbClr val="595959"/>
                </a:solidFill>
                <a:latin typeface="Noto Sans KR Black"/>
                <a:ea typeface="Noto Sans KR Black"/>
              </a:rPr>
              <a:t>학기</a:t>
            </a:r>
            <a:endParaRPr lang="ko-KR" sz="2000" b="0" i="0" u="none" strike="noStrike" spc="-100">
              <a:solidFill>
                <a:srgbClr val="595959"/>
              </a:solidFill>
              <a:latin typeface="Noto Sans KR Black"/>
              <a:ea typeface="Noto Sans KR Blac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38500" y="3517900"/>
            <a:ext cx="11811000" cy="316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현대</a:t>
            </a:r>
            <a:r>
              <a:rPr lang="en-US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/</a:t>
            </a:r>
            <a:r>
              <a:rPr lang="ko-KR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기아</a:t>
            </a:r>
            <a:r>
              <a:rPr lang="en-US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인증중고차</a:t>
            </a:r>
            <a:endParaRPr lang="ko-KR" sz="9600" b="0" i="0" u="none" strike="noStrike" spc="100">
              <a:solidFill>
                <a:srgbClr val="000000"/>
              </a:solidFill>
              <a:latin typeface="Noto Sans KR Black"/>
              <a:ea typeface="Noto Sans KR Black"/>
            </a:endParaRPr>
          </a:p>
          <a:p>
            <a:pPr lvl="0" algn="ctr">
              <a:lnSpc>
                <a:spcPct val="99600"/>
              </a:lnSpc>
              <a:defRPr/>
            </a:pPr>
            <a:r>
              <a:rPr lang="ko-KR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텍스트</a:t>
            </a:r>
            <a:r>
              <a:rPr lang="en-US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96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마이닝</a:t>
            </a:r>
            <a:endParaRPr lang="ko-KR" sz="9600" b="0" i="0" u="none" strike="noStrike" spc="100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270500" y="8229600"/>
            <a:ext cx="7734300" cy="647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en-US" sz="3700" b="0" i="0" u="none" strike="noStrike">
                <a:solidFill>
                  <a:srgbClr val="000000"/>
                </a:solidFill>
                <a:latin typeface="Pretendard SemiBold"/>
              </a:rPr>
              <a:t>AI</a:t>
            </a:r>
            <a:r>
              <a:rPr lang="ko-KR" sz="3700" b="0" i="0" u="none" strike="noStrike">
                <a:solidFill>
                  <a:srgbClr val="000000"/>
                </a:solidFill>
                <a:ea typeface="Pretendard SemiBold"/>
              </a:rPr>
              <a:t>빅데이터학과</a:t>
            </a:r>
            <a:r>
              <a:rPr lang="en-US" sz="3700" b="0" i="0" u="none" strike="noStrike">
                <a:solidFill>
                  <a:srgbClr val="000000"/>
                </a:solidFill>
                <a:latin typeface="Pretendard SemiBold"/>
              </a:rPr>
              <a:t> 20211088 </a:t>
            </a:r>
            <a:r>
              <a:rPr lang="ko-KR" sz="3700" b="0" i="0" u="none" strike="noStrike">
                <a:solidFill>
                  <a:srgbClr val="000000"/>
                </a:solidFill>
                <a:ea typeface="Pretendard SemiBold"/>
              </a:rPr>
              <a:t>방성준</a:t>
            </a:r>
            <a:endParaRPr lang="ko-KR" sz="3700" b="0" i="0" u="none" strike="noStrike">
              <a:solidFill>
                <a:srgbClr val="000000"/>
              </a:solidFill>
              <a:ea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88100" y="1638300"/>
            <a:ext cx="10109200" cy="1016000"/>
          </a:xfrm>
          <a:prstGeom prst="rect">
            <a:avLst/>
          </a:prstGeom>
          <a:effectLst>
            <a:outerShdw dist="117368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388100" y="2959100"/>
            <a:ext cx="10109200" cy="1016000"/>
          </a:xfrm>
          <a:prstGeom prst="rect">
            <a:avLst/>
          </a:prstGeom>
          <a:effectLst>
            <a:outerShdw dist="117368" dir="5400000">
              <a:srgbClr val="e6e6e6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388100" y="4279900"/>
            <a:ext cx="10109200" cy="1016000"/>
          </a:xfrm>
          <a:prstGeom prst="rect">
            <a:avLst/>
          </a:prstGeom>
          <a:effectLst>
            <a:outerShdw dist="117368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388100" y="5600700"/>
            <a:ext cx="10109200" cy="1016000"/>
          </a:xfrm>
          <a:prstGeom prst="rect">
            <a:avLst/>
          </a:prstGeom>
          <a:effectLst>
            <a:outerShdw dist="117368" dir="5400000">
              <a:srgbClr val="e6e6e6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388100" y="6908800"/>
            <a:ext cx="10109200" cy="1016000"/>
          </a:xfrm>
          <a:prstGeom prst="rect">
            <a:avLst/>
          </a:prstGeom>
          <a:effectLst>
            <a:outerShdw dist="117368" dir="5400000">
              <a:srgbClr val="e6e6e6">
                <a:alpha val="10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562100" y="1803400"/>
            <a:ext cx="139700" cy="139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001000" y="7188200"/>
            <a:ext cx="7848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감성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분석</a:t>
            </a:r>
            <a:endParaRPr lang="ko-KR" sz="26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057900" y="6654800"/>
            <a:ext cx="2286000" cy="18923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98600" y="1905000"/>
            <a:ext cx="31623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8000" b="0" i="0" u="none" strike="noStrike" spc="100">
                <a:solidFill>
                  <a:srgbClr val="000000"/>
                </a:solidFill>
                <a:ea typeface="Pretendard ExtraBold"/>
              </a:rPr>
              <a:t>목차</a:t>
            </a:r>
            <a:endParaRPr lang="ko-KR" sz="8000" b="0" i="0" u="none" strike="noStrike" spc="100">
              <a:solidFill>
                <a:srgbClr val="000000"/>
              </a:solidFill>
              <a:ea typeface="Pretendard Extra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03400" y="1625600"/>
            <a:ext cx="30988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700" b="0" i="0" u="none" strike="noStrike">
                <a:solidFill>
                  <a:srgbClr val="a0a0a0"/>
                </a:solidFill>
                <a:latin typeface="Anek Bangla Expanded Bold"/>
              </a:rPr>
              <a:t>INDEX</a:t>
            </a:r>
            <a:endParaRPr lang="en-US" sz="2700" b="0" i="0" u="none" strike="noStrike">
              <a:solidFill>
                <a:srgbClr val="a0a0a0"/>
              </a:solidFill>
              <a:latin typeface="Anek Bangla Expande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013700" y="1905000"/>
            <a:ext cx="7848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왜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이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주제를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선택하였는가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?</a:t>
            </a:r>
            <a:endParaRPr lang="en-US" sz="26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5994400" y="1371600"/>
            <a:ext cx="2336800" cy="1892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001000" y="3225800"/>
            <a:ext cx="7848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크롤링</a:t>
            </a:r>
            <a:endParaRPr lang="ko-KR" sz="26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045200" y="2692400"/>
            <a:ext cx="2298700" cy="18923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001000" y="4546600"/>
            <a:ext cx="7848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전처리</a:t>
            </a:r>
            <a:endParaRPr lang="ko-KR" sz="26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045200" y="4013200"/>
            <a:ext cx="2286000" cy="18923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8001000" y="5867400"/>
            <a:ext cx="7848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텍스트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마이닝</a:t>
            </a:r>
            <a:endParaRPr lang="ko-KR" sz="26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057900" y="5334000"/>
            <a:ext cx="2298700" cy="1892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6388100" y="8166100"/>
            <a:ext cx="10109200" cy="1016000"/>
          </a:xfrm>
          <a:prstGeom prst="rect">
            <a:avLst/>
          </a:prstGeom>
          <a:effectLst>
            <a:outerShdw dist="117368" dir="5400000">
              <a:srgbClr val="e6e6e6">
                <a:alpha val="100000"/>
              </a:srgbClr>
            </a:outerShdw>
          </a:effectLst>
        </p:spPr>
      </p:pic>
      <p:sp>
        <p:nvSpPr>
          <p:cNvPr id="24" name="TextBox 24"/>
          <p:cNvSpPr txBox="1"/>
          <p:nvPr/>
        </p:nvSpPr>
        <p:spPr>
          <a:xfrm>
            <a:off x="8013700" y="8432800"/>
            <a:ext cx="7848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결론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/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개선할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점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/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추가적인</a:t>
            </a:r>
            <a:r>
              <a:rPr lang="en-US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아이디어</a:t>
            </a:r>
            <a:endParaRPr lang="ko-KR" sz="26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28" name="Picture 25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6070600" y="7899400"/>
            <a:ext cx="2286000" cy="189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14185900" y="4495800"/>
            <a:ext cx="3759200" cy="177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13296900" y="4495800"/>
            <a:ext cx="3759200" cy="177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43000" y="7759700"/>
            <a:ext cx="16002000" cy="1549400"/>
          </a:xfrm>
          <a:prstGeom prst="rect">
            <a:avLst/>
          </a:prstGeom>
          <a:effectLst>
            <a:outerShdw dist="142585" dir="5400000">
              <a:srgbClr val="d8d8d8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-1600200" y="279400"/>
            <a:ext cx="13246100" cy="14122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0800" y="5969000"/>
            <a:ext cx="124714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왜</a:t>
            </a:r>
            <a:r>
              <a:rPr lang="en-US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이</a:t>
            </a:r>
            <a:r>
              <a:rPr lang="en-US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주제를</a:t>
            </a:r>
            <a:r>
              <a:rPr lang="en-US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선택하였는가</a:t>
            </a:r>
            <a:r>
              <a:rPr lang="en-US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?</a:t>
            </a:r>
            <a:endParaRPr lang="en-US" sz="8000" b="0" i="0" u="none" strike="noStrike" spc="100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1000" y="8115300"/>
            <a:ext cx="10045700" cy="8128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현대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기아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인증중고차를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주제로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선택하였는지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주제를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통해서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무엇을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알고싶은지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865600" y="1016000"/>
            <a:ext cx="3429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43000" y="3517900"/>
            <a:ext cx="9207500" cy="553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706100" y="35179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201400" y="37973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383000" y="3886200"/>
            <a:ext cx="266700" cy="215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왜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이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주제를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선택하였는가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?</a:t>
            </a:r>
            <a:endParaRPr lang="en-US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49300" y="1244600"/>
            <a:ext cx="2781300" cy="259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74400" y="4076700"/>
            <a:ext cx="5626100" cy="965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사람들에게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신뢰감을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주지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못하는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  <a:p>
            <a:pPr lvl="0" algn="ctr">
              <a:lnSpc>
                <a:spcPct val="107899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중고차시장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06100" y="6540500"/>
            <a:ext cx="6502400" cy="1282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사람들에게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신뢰감을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주지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못하는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중고차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시장을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해결하기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위해서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차량을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판매하는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대기업인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현대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기아는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중고차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시장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진출을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고려하였다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.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65600" y="1016000"/>
            <a:ext cx="419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2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43000" y="3517900"/>
            <a:ext cx="9207500" cy="553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706100" y="35179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201400" y="37973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383000" y="3886200"/>
            <a:ext cx="266700" cy="215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왜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이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주제를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선택하였는가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?</a:t>
            </a:r>
            <a:endParaRPr lang="en-US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49300" y="1244600"/>
            <a:ext cx="2781300" cy="259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74400" y="4178300"/>
            <a:ext cx="5626100" cy="508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대기업이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직접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중고차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시장에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진출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06100" y="6324600"/>
            <a:ext cx="6502400" cy="1739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2023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10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현대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2023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11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초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기아가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중고차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시장에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진출하게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되면서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대한민국에서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대기업의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중고차시장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진출이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공식화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되었으며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찬성과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반대가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있었던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만큼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이후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사람들의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인식이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어떤지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감성분석을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통해서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알아볼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것이다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.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65600" y="1016000"/>
            <a:ext cx="419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3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706100" y="35179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01400" y="3797300"/>
            <a:ext cx="2667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383000" y="38862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39800" y="4749800"/>
            <a:ext cx="9575800" cy="2616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크롤링</a:t>
            </a:r>
            <a:endParaRPr lang="ko-KR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12800" y="1231900"/>
            <a:ext cx="2730500" cy="2616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74400" y="4000500"/>
            <a:ext cx="5626100" cy="965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네이버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블로그와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카페를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통해서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  <a:p>
            <a:pPr lvl="0" algn="ctr">
              <a:lnSpc>
                <a:spcPct val="107899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현대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/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기아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인증중고차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크롤링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45800" y="6743700"/>
            <a:ext cx="6210300" cy="1282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: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현대기아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인증중고차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수집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기간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: 2024.06.01 ~ 2025.05.31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수집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갯수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: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블로그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(210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) /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카페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(210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) =&gt;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총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420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개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65600" y="1016000"/>
            <a:ext cx="4318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4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706100" y="35179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01400" y="3797300"/>
            <a:ext cx="2667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383000" y="38862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95400" y="4762500"/>
            <a:ext cx="8775700" cy="2578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전처리</a:t>
            </a:r>
            <a:endParaRPr lang="ko-KR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25500" y="1244600"/>
            <a:ext cx="2717800" cy="259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74400" y="4127500"/>
            <a:ext cx="5626100" cy="508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불용어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처리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06100" y="6324600"/>
            <a:ext cx="6502400" cy="1739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단어가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몇번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나오는지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Counter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라이브러리를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통해서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알아본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너무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뻔한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단어들과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말이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안되는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단어들을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제외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너무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많이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제외시키면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크롤링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결과에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영향을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있을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것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같아서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양을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조절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)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65600" y="1016000"/>
            <a:ext cx="419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5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43000" y="3517900"/>
            <a:ext cx="9207500" cy="553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706100" y="35179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201400" y="37973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383000" y="3886200"/>
            <a:ext cx="266700" cy="215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텍스트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마이닝</a:t>
            </a:r>
            <a:endParaRPr lang="ko-KR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8200" y="1244600"/>
            <a:ext cx="2730500" cy="259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74400" y="4127500"/>
            <a:ext cx="5626100" cy="508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본문에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대한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워드클라우드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45800" y="6070600"/>
            <a:ext cx="6210300" cy="2628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본문에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대한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워드클라우드를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진행함에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따라서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불용어를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제외하고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어떤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단어들이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많이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나왔는지를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확인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endParaRPr lang="en-US" sz="2200" b="0" i="0" u="none" strike="noStrike" spc="-10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현대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기아라는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기업에서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운영하므로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현대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기아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단어가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가장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크고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그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뒤로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매매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진단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등이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가장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크게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나타남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65600" y="1016000"/>
            <a:ext cx="419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6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92200" y="2984500"/>
            <a:ext cx="9207500" cy="676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706100" y="35179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201400" y="37973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383000" y="3886200"/>
            <a:ext cx="266700" cy="215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텍스트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마이닝</a:t>
            </a:r>
            <a:endParaRPr lang="ko-KR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8200" y="1244600"/>
            <a:ext cx="2730500" cy="259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74400" y="3949700"/>
            <a:ext cx="5626100" cy="965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KMeans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를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사용하기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위해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  <a:p>
            <a:pPr lvl="0" algn="ctr">
              <a:lnSpc>
                <a:spcPct val="107899"/>
              </a:lnSpc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n_clusters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값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정하기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45800" y="6972300"/>
            <a:ext cx="6210300" cy="838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SSE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값의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변화가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가장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적은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K = 4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n_clusters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정해서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KMeans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진행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65600" y="1016000"/>
            <a:ext cx="3937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7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204200" y="31877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699500" y="3467100"/>
            <a:ext cx="2667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893800" y="35560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841500" y="3187700"/>
            <a:ext cx="3314700" cy="623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텍스트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데이터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마이닝</a:t>
            </a:r>
            <a:endParaRPr lang="ko-KR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8200" y="1244600"/>
            <a:ext cx="2730500" cy="259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585200" y="3873500"/>
            <a:ext cx="5626100" cy="508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KMeans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를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사용해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단어들</a:t>
            </a: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  <a:p>
            <a:pPr lvl="0" algn="ctr">
              <a:lnSpc>
                <a:spcPct val="107899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클러스터링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918200" y="5626100"/>
            <a:ext cx="11074400" cy="2628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Cluster 0 :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질문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탐색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Cluster 1 :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성능진단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공매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제도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설명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Cluster 2 :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결정에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필요한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품질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정보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Cluster 3 :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브랜드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경험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만족도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일부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부정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경험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포함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endParaRPr lang="en-US" sz="2200" b="0" i="0" u="none" strike="noStrike" spc="-10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내용은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Chatgpt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활용하여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각각의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클러스터별로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어떤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주제를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가지고있는지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확인해본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결과입니다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.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65600" y="1016000"/>
            <a:ext cx="419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8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14185900" y="4495800"/>
            <a:ext cx="3759200" cy="177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13296900" y="4495800"/>
            <a:ext cx="3759200" cy="177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43000" y="7759700"/>
            <a:ext cx="16002000" cy="1549400"/>
          </a:xfrm>
          <a:prstGeom prst="rect">
            <a:avLst/>
          </a:prstGeom>
          <a:effectLst>
            <a:outerShdw dist="142585" dir="5400000">
              <a:srgbClr val="d8d8d8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-1600200" y="279400"/>
            <a:ext cx="13893800" cy="14122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0800" y="5969000"/>
            <a:ext cx="116586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감성</a:t>
            </a:r>
            <a:r>
              <a:rPr lang="en-US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8000" b="0" i="0" u="none" strike="noStrike" spc="100">
                <a:solidFill>
                  <a:srgbClr val="000000"/>
                </a:solidFill>
                <a:latin typeface="Noto Sans KR Black"/>
                <a:ea typeface="Noto Sans KR Black"/>
              </a:rPr>
              <a:t>분석</a:t>
            </a:r>
            <a:endParaRPr lang="ko-KR" sz="8000" b="0" i="0" u="none" strike="noStrike" spc="100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1000" y="8115300"/>
            <a:ext cx="10045700" cy="8128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knu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감성사전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EmoLex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감성사전</a:t>
            </a:r>
            <a:endParaRPr lang="ko-KR" sz="2200" b="0" i="0" u="none" strike="noStrike" spc="-10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865600" y="1016000"/>
            <a:ext cx="419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9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706100" y="35179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01400" y="3797300"/>
            <a:ext cx="2667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383000" y="38862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143000" y="3124200"/>
            <a:ext cx="9220200" cy="284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247900" y="6146800"/>
            <a:ext cx="6769100" cy="3289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감성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분석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(KNU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감성사전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)</a:t>
            </a:r>
            <a:endParaRPr lang="en-US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8200" y="1244600"/>
            <a:ext cx="2717800" cy="2590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1074400" y="4178300"/>
            <a:ext cx="5626100" cy="508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KNU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감성사전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845800" y="6070600"/>
            <a:ext cx="6210300" cy="2628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KNU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감성사전으로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컬럼들의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단어들의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점수를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매겨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score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환산하여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긍정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중립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부정으로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나눈다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.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topic 2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표본이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적긴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하지만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토픽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긍정의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비율이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55%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이상이고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중립과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합쳐진다면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토픽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90%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정도의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비율을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보여준다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.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865600" y="1016000"/>
            <a:ext cx="673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10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706100" y="3517900"/>
            <a:ext cx="6438900" cy="2057400"/>
          </a:xfrm>
          <a:prstGeom prst="rect">
            <a:avLst/>
          </a:prstGeom>
          <a:effectLst>
            <a:outerShdw dist="126362" dir="5400000">
              <a:srgbClr val="e6e6e6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01400" y="3797300"/>
            <a:ext cx="2667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383000" y="3886200"/>
            <a:ext cx="2667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39800" y="4394200"/>
            <a:ext cx="9398000" cy="3619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08300" y="1828800"/>
            <a:ext cx="98679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감성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분석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(EmoLex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감성사전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)</a:t>
            </a:r>
            <a:endParaRPr lang="en-US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8200" y="1244600"/>
            <a:ext cx="2717800" cy="259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74400" y="4178300"/>
            <a:ext cx="5626100" cy="508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07899"/>
              </a:lnSpc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Pretendard Bold"/>
              </a:rPr>
              <a:t>EmoLex </a:t>
            </a:r>
            <a:r>
              <a:rPr lang="ko-KR" sz="2800" b="0" i="0" u="none" strike="noStrike">
                <a:solidFill>
                  <a:srgbClr val="000000"/>
                </a:solidFill>
                <a:ea typeface="Pretendard Bold"/>
              </a:rPr>
              <a:t>감성사전</a:t>
            </a:r>
            <a:endParaRPr lang="ko-KR" sz="28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45800" y="6299200"/>
            <a:ext cx="6210300" cy="218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EmoLex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감성사전은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단어마다의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감정을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0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1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변환하여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나타낸다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.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32800"/>
              </a:lnSpc>
              <a:defRPr/>
            </a:pP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왼쪽의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표는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좋아요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이미지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동영상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댓글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수를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감정과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상관분석을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해본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 spc="-100">
                <a:solidFill>
                  <a:srgbClr val="000000"/>
                </a:solidFill>
                <a:ea typeface="Pretendard Regular"/>
              </a:rPr>
              <a:t>결과이다</a:t>
            </a:r>
            <a:r>
              <a:rPr lang="en-US" sz="2200" b="0" i="0" u="none" strike="noStrike" spc="-100">
                <a:solidFill>
                  <a:srgbClr val="000000"/>
                </a:solidFill>
                <a:latin typeface="Pretendard Regular"/>
              </a:rPr>
              <a:t>.</a:t>
            </a:r>
            <a:endParaRPr lang="en-US" sz="2200" b="0" i="0" u="none" strike="noStrike" spc="-10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65600" y="1016000"/>
            <a:ext cx="5715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11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21300" y="1270000"/>
            <a:ext cx="7645400" cy="8242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912100" y="660400"/>
            <a:ext cx="24638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100" b="false" i="false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65600" y="1016000"/>
            <a:ext cx="6477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Bol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3000" y="1701800"/>
            <a:ext cx="16002000" cy="1181100"/>
          </a:xfrm>
          <a:prstGeom prst="rect">
            <a:avLst/>
          </a:prstGeom>
          <a:effectLst>
            <a:outerShdw dist="126586" dir="5400000">
              <a:srgbClr val="d8d8d8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43000" y="3149600"/>
            <a:ext cx="16002000" cy="6146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819400" y="1828800"/>
            <a:ext cx="13703300" cy="889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결론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/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개선할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점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/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추가적인</a:t>
            </a:r>
            <a:r>
              <a:rPr lang="en-US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아이디어</a:t>
            </a:r>
            <a:endParaRPr lang="ko-KR" sz="50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50900" y="1244600"/>
            <a:ext cx="2692400" cy="2590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387600" y="4622800"/>
            <a:ext cx="13576300" cy="3187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577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현대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기아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라는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대기업이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중고차시장에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직접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진출한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이후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조금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시간이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지난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2024.06 ~ 2025.05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기간동안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크롤링을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진행해보았는데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어느정도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긍정적인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반응이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있을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것이라고는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예상을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했지만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KNU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감성사전을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이용했을때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약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90%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정도가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중립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+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긍정인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부분에서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생각보다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높아서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놀라웠다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300" b="0" i="0" u="none" strike="noStrike">
              <a:solidFill>
                <a:srgbClr val="000000"/>
              </a:solidFill>
              <a:latin typeface="Pretendard Medium"/>
            </a:endParaRPr>
          </a:p>
          <a:p>
            <a:pPr lvl="0" algn="l">
              <a:lnSpc>
                <a:spcPct val="157700"/>
              </a:lnSpc>
              <a:defRPr/>
            </a:pPr>
            <a:endParaRPr lang="en-US" sz="2300" b="0" i="0" u="none" strike="noStrike">
              <a:solidFill>
                <a:srgbClr val="000000"/>
              </a:solidFill>
              <a:latin typeface="Pretendard Medium"/>
            </a:endParaRPr>
          </a:p>
          <a:p>
            <a:pPr lvl="0" algn="l">
              <a:lnSpc>
                <a:spcPct val="1577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다시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되돌아보면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너무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크롤링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채널을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한정지어서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했던게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아닌가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싶기도하다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.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자동차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커뮤니티를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한번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크롤링해보면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다른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결과가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나올지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혹은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비슷한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결과가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나오게될지도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궁금하다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3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865600" y="1016000"/>
            <a:ext cx="6604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13</a:t>
            </a:r>
            <a:endParaRPr lang="en-US" sz="40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533400"/>
            <a:ext cx="16941800" cy="9220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912100" y="660400"/>
            <a:ext cx="24638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2100" b="0" i="0" u="none" strike="noStrike" spc="-100">
                <a:solidFill>
                  <a:srgbClr val="000000"/>
                </a:solidFill>
                <a:ea typeface="Pretendard SemiBold"/>
              </a:rPr>
              <a:t>대진대학교</a:t>
            </a:r>
            <a:endParaRPr lang="ko-KR" sz="2100" b="0" i="0" u="none" strike="noStrike" spc="-10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667500" y="4451350"/>
            <a:ext cx="4953000" cy="1384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7800" b="0" i="0" u="none" strike="noStrike">
                <a:solidFill>
                  <a:srgbClr val="000000"/>
                </a:solidFill>
                <a:latin typeface="Noto Sans KR Black"/>
                <a:ea typeface="Noto Sans KR Black"/>
              </a:rPr>
              <a:t>감사합니다</a:t>
            </a:r>
            <a:endParaRPr lang="ko-KR" sz="7800" b="0" i="0" u="none" strike="noStrike">
              <a:solidFill>
                <a:srgbClr val="000000"/>
              </a:solidFill>
              <a:latin typeface="Noto Sans KR Black"/>
              <a:ea typeface="Noto Sans KR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439</ep:Words>
  <ep:PresentationFormat>On-screen Show (4:3)</ep:PresentationFormat>
  <ep:Paragraphs>93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samsung</cp:lastModifiedBy>
  <dcterms:modified xsi:type="dcterms:W3CDTF">2026-03-25T14:53:04.489</dcterms:modified>
  <cp:revision>18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